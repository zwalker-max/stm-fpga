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74" r:id="rId3"/>
    <p:sldId id="275" r:id="rId4"/>
    <p:sldId id="279" r:id="rId5"/>
    <p:sldId id="277" r:id="rId6"/>
    <p:sldId id="289" r:id="rId7"/>
    <p:sldId id="281" r:id="rId8"/>
    <p:sldId id="278" r:id="rId9"/>
    <p:sldId id="280" r:id="rId10"/>
    <p:sldId id="283" r:id="rId11"/>
    <p:sldId id="294" r:id="rId12"/>
    <p:sldId id="282" r:id="rId13"/>
    <p:sldId id="284" r:id="rId14"/>
    <p:sldId id="285" r:id="rId15"/>
    <p:sldId id="286" r:id="rId16"/>
    <p:sldId id="287" r:id="rId17"/>
    <p:sldId id="288" r:id="rId18"/>
    <p:sldId id="290" r:id="rId19"/>
    <p:sldId id="292" r:id="rId20"/>
    <p:sldId id="276" r:id="rId21"/>
    <p:sldId id="291" r:id="rId22"/>
    <p:sldId id="293" r:id="rId23"/>
    <p:sldId id="295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48" autoAdjust="0"/>
    <p:restoredTop sz="94660"/>
  </p:normalViewPr>
  <p:slideViewPr>
    <p:cSldViewPr snapToGrid="0">
      <p:cViewPr varScale="1">
        <p:scale>
          <a:sx n="84" d="100"/>
          <a:sy n="84" d="100"/>
        </p:scale>
        <p:origin x="33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376B2B-A27E-4AFC-A98B-D3A6A0E3C6A1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18C1FA-8313-40DD-B7A1-B1D051269B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765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 bwMode="auto">
          <a:xfrm>
            <a:off x="406549" y="1"/>
            <a:ext cx="637280" cy="573552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93036" y="133825"/>
            <a:ext cx="637280" cy="573552"/>
          </a:xfrm>
          <a:prstGeom prst="rect">
            <a:avLst/>
          </a:prstGeom>
          <a:solidFill>
            <a:srgbClr val="00487E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320925" y="594435"/>
            <a:ext cx="7518203" cy="427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487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20925" y="84331"/>
            <a:ext cx="9042307" cy="43221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606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49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67C61-6345-4DF2-B1CF-14FB34CFBD5D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B1D32-8D69-4711-9ADD-A5853C1DFF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882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67C61-6345-4DF2-B1CF-14FB34CFBD5D}" type="datetimeFigureOut">
              <a:rPr lang="zh-CN" altLang="en-US" smtClean="0"/>
              <a:t>2026/6/27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B1D32-8D69-4711-9ADD-A5853C1DFF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676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/>
          <p:nvPr/>
        </p:nvSpPr>
        <p:spPr>
          <a:xfrm>
            <a:off x="2400116" y="2001936"/>
            <a:ext cx="75627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5400" b="1" dirty="0">
                <a:solidFill>
                  <a:srgbClr val="00487E"/>
                </a:solidFill>
                <a:latin typeface="微软雅黑" pitchFamily="34" charset="-122"/>
                <a:ea typeface="微软雅黑" pitchFamily="34" charset="-122"/>
              </a:rPr>
              <a:t>FPGA-ARM</a:t>
            </a:r>
            <a:r>
              <a:rPr lang="zh-CN" altLang="en-US" sz="5400" b="1" dirty="0">
                <a:solidFill>
                  <a:srgbClr val="00487E"/>
                </a:solidFill>
                <a:latin typeface="微软雅黑" pitchFamily="34" charset="-122"/>
                <a:ea typeface="微软雅黑" pitchFamily="34" charset="-122"/>
              </a:rPr>
              <a:t>开发板简介</a:t>
            </a:r>
            <a:endParaRPr lang="en-US" altLang="zh-CN" sz="2000" b="1" dirty="0">
              <a:solidFill>
                <a:srgbClr val="00487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598877" y="54072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989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ED9B1ED-E7DC-4042-9313-CB2243145B68}"/>
              </a:ext>
            </a:extLst>
          </p:cNvPr>
          <p:cNvSpPr txBox="1"/>
          <p:nvPr/>
        </p:nvSpPr>
        <p:spPr>
          <a:xfrm>
            <a:off x="486918" y="890497"/>
            <a:ext cx="6782562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Xilinx Zynq-7000</a:t>
            </a:r>
            <a:r>
              <a:rPr lang="zh-CN" altLang="en-US" dirty="0"/>
              <a:t>资源丰富，性能强劲，但价格高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Xilinx Zynq-7000</a:t>
            </a:r>
            <a:r>
              <a:rPr lang="zh-CN" altLang="en-US" dirty="0"/>
              <a:t>学习成本较高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集成开发环境</a:t>
            </a:r>
            <a:r>
              <a:rPr lang="en-US" altLang="zh-CN" dirty="0" err="1"/>
              <a:t>Vivado</a:t>
            </a:r>
            <a:r>
              <a:rPr lang="zh-CN" altLang="en-US" dirty="0"/>
              <a:t>资源占用较高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本硕博班开设有</a:t>
            </a:r>
            <a:r>
              <a:rPr lang="en-US" altLang="zh-CN" b="1" dirty="0"/>
              <a:t>Intel/Altera CPLD + Verilog</a:t>
            </a:r>
            <a:r>
              <a:rPr lang="zh-CN" altLang="en-US" b="1" dirty="0"/>
              <a:t>课</a:t>
            </a:r>
            <a:endParaRPr lang="en-US" altLang="zh-CN" b="1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C8A07A7-9C3A-4F73-BB94-1764A56B1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B095337-7C25-4D0D-AF5A-31769B2699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0" t="19281" r="18760" b="20169"/>
          <a:stretch/>
        </p:blipFill>
        <p:spPr>
          <a:xfrm>
            <a:off x="2391881" y="2975818"/>
            <a:ext cx="5111496" cy="346046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C7BFA49-3856-4D04-BBD3-7C0F3A817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130" y="2975818"/>
            <a:ext cx="1691787" cy="3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112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157109-193D-4692-9071-A987E8A15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Intel FPGA+STM32</a:t>
            </a:r>
            <a:r>
              <a:rPr lang="zh-CN" altLang="en-US" dirty="0"/>
              <a:t>开发板简介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4C4DD5-E485-4600-B5AB-48372C127D15}"/>
              </a:ext>
            </a:extLst>
          </p:cNvPr>
          <p:cNvSpPr txBox="1"/>
          <p:nvPr/>
        </p:nvSpPr>
        <p:spPr>
          <a:xfrm>
            <a:off x="243459" y="1074956"/>
            <a:ext cx="11705082" cy="4199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EP4CE10E22C8N/</a:t>
            </a:r>
            <a:r>
              <a:rPr lang="en-US" altLang="zh-CN" b="1" dirty="0"/>
              <a:t>EP4CE10E22I7N</a:t>
            </a:r>
            <a:r>
              <a:rPr lang="en-US" altLang="zh-CN" dirty="0"/>
              <a:t> + STM32H723ZGT6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EP4CE10E22</a:t>
            </a:r>
            <a:r>
              <a:rPr lang="zh-CN" altLang="en-US" dirty="0"/>
              <a:t>：</a:t>
            </a:r>
            <a:r>
              <a:rPr lang="en-US" altLang="zh-CN" dirty="0"/>
              <a:t>10320 </a:t>
            </a:r>
            <a:r>
              <a:rPr lang="zh-CN" altLang="en-US" dirty="0"/>
              <a:t>个逻辑单元（</a:t>
            </a:r>
            <a:r>
              <a:rPr lang="en-US" altLang="zh-CN" dirty="0"/>
              <a:t>LE</a:t>
            </a:r>
            <a:r>
              <a:rPr lang="zh-CN" altLang="en-US" dirty="0"/>
              <a:t>），</a:t>
            </a:r>
            <a:r>
              <a:rPr lang="en-US" altLang="zh-CN" dirty="0"/>
              <a:t>414Kbit RAM</a:t>
            </a:r>
            <a:r>
              <a:rPr lang="zh-CN" altLang="en-US" dirty="0"/>
              <a:t>，</a:t>
            </a:r>
            <a:r>
              <a:rPr lang="en-US" altLang="zh-CN" dirty="0"/>
              <a:t>23</a:t>
            </a:r>
            <a:r>
              <a:rPr lang="zh-CN" altLang="en-US" dirty="0"/>
              <a:t>个</a:t>
            </a:r>
            <a:r>
              <a:rPr lang="en-US" altLang="zh-CN" dirty="0"/>
              <a:t>18×18</a:t>
            </a:r>
            <a:r>
              <a:rPr lang="zh-CN" altLang="en-US" dirty="0"/>
              <a:t>乘法器，</a:t>
            </a:r>
            <a:r>
              <a:rPr lang="en-US" altLang="zh-CN" dirty="0"/>
              <a:t>2</a:t>
            </a:r>
            <a:r>
              <a:rPr lang="zh-CN" altLang="en-US" dirty="0"/>
              <a:t>个锁相环（</a:t>
            </a:r>
            <a:r>
              <a:rPr lang="en-US" altLang="zh-CN" dirty="0"/>
              <a:t>PLL</a:t>
            </a:r>
            <a:r>
              <a:rPr lang="zh-CN" altLang="en-US" dirty="0"/>
              <a:t>）最多</a:t>
            </a:r>
            <a:r>
              <a:rPr lang="en-US" altLang="zh-CN" dirty="0"/>
              <a:t>10</a:t>
            </a:r>
            <a:r>
              <a:rPr lang="zh-CN" altLang="en-US" dirty="0"/>
              <a:t>路时钟输出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STM32H723ZGT6</a:t>
            </a:r>
            <a:r>
              <a:rPr lang="zh-CN" altLang="en-US" dirty="0"/>
              <a:t>：</a:t>
            </a:r>
            <a:r>
              <a:rPr lang="en-US" altLang="zh-CN" dirty="0"/>
              <a:t>ARM Cortex‑M7 @ 550 MHz</a:t>
            </a:r>
            <a:r>
              <a:rPr lang="zh-CN" altLang="en-US" dirty="0"/>
              <a:t>，双精度 </a:t>
            </a:r>
            <a:r>
              <a:rPr lang="en-US" altLang="zh-CN" dirty="0"/>
              <a:t>FPU</a:t>
            </a:r>
            <a:r>
              <a:rPr lang="zh-CN" altLang="en-US" dirty="0"/>
              <a:t>、</a:t>
            </a:r>
            <a:r>
              <a:rPr lang="en-US" altLang="zh-CN" dirty="0"/>
              <a:t>MPU</a:t>
            </a:r>
            <a:r>
              <a:rPr lang="zh-CN" altLang="en-US" dirty="0"/>
              <a:t>、</a:t>
            </a:r>
            <a:r>
              <a:rPr lang="en-US" altLang="zh-CN" dirty="0"/>
              <a:t>DSP </a:t>
            </a:r>
            <a:r>
              <a:rPr lang="zh-CN" altLang="en-US" dirty="0"/>
              <a:t>指令，</a:t>
            </a:r>
            <a:r>
              <a:rPr lang="en-US" altLang="zh-CN" dirty="0"/>
              <a:t>1 MB Flash</a:t>
            </a:r>
            <a:r>
              <a:rPr lang="zh-CN" altLang="en-US" dirty="0"/>
              <a:t>，</a:t>
            </a:r>
            <a:r>
              <a:rPr lang="en-US" altLang="zh-CN" dirty="0"/>
              <a:t>564KB SRAM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物料成本约</a:t>
            </a:r>
            <a:r>
              <a:rPr lang="en-US" altLang="zh-CN" dirty="0"/>
              <a:t>180</a:t>
            </a:r>
            <a:r>
              <a:rPr lang="zh-CN" altLang="en-US" dirty="0"/>
              <a:t>元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FMC</a:t>
            </a:r>
            <a:r>
              <a:rPr lang="zh-CN" altLang="en-US" dirty="0"/>
              <a:t>总线连接，地址、数据分离，</a:t>
            </a:r>
            <a:r>
              <a:rPr lang="en-US" altLang="zh-CN" dirty="0"/>
              <a:t>16</a:t>
            </a:r>
            <a:r>
              <a:rPr lang="zh-CN" altLang="en-US" dirty="0"/>
              <a:t>位数据线，</a:t>
            </a:r>
            <a:r>
              <a:rPr lang="en-US" altLang="zh-CN" dirty="0"/>
              <a:t>15</a:t>
            </a:r>
            <a:r>
              <a:rPr lang="zh-CN" altLang="en-US" dirty="0"/>
              <a:t>位地址线，可访问</a:t>
            </a:r>
            <a:r>
              <a:rPr lang="en-US" altLang="zh-CN" dirty="0"/>
              <a:t>32768</a:t>
            </a:r>
            <a:r>
              <a:rPr lang="zh-CN" altLang="en-US" dirty="0"/>
              <a:t>个</a:t>
            </a:r>
            <a:r>
              <a:rPr lang="en-US" altLang="zh-CN" dirty="0"/>
              <a:t>16-bit</a:t>
            </a:r>
            <a:r>
              <a:rPr lang="zh-CN" altLang="en-US" dirty="0"/>
              <a:t>寄存器（</a:t>
            </a:r>
            <a:r>
              <a:rPr lang="en-US" altLang="zh-CN" dirty="0"/>
              <a:t>FPGA</a:t>
            </a:r>
            <a:r>
              <a:rPr lang="zh-CN" altLang="en-US" dirty="0"/>
              <a:t>只有</a:t>
            </a:r>
            <a:r>
              <a:rPr lang="en-US" altLang="zh-CN" dirty="0"/>
              <a:t>26496</a:t>
            </a:r>
            <a:r>
              <a:rPr lang="zh-CN" altLang="en-US" dirty="0"/>
              <a:t>个）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尺寸</a:t>
            </a:r>
            <a:r>
              <a:rPr lang="en-US" altLang="zh-CN" dirty="0"/>
              <a:t>100mm×90mm</a:t>
            </a:r>
            <a:r>
              <a:rPr lang="zh-CN" altLang="en-US" dirty="0"/>
              <a:t>，四层板，使用嘉立创</a:t>
            </a:r>
            <a:r>
              <a:rPr lang="en-US" altLang="zh-CN" dirty="0"/>
              <a:t>EDA</a:t>
            </a:r>
            <a:r>
              <a:rPr lang="zh-CN" altLang="en-US" dirty="0"/>
              <a:t>设计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全贴片器件，无</a:t>
            </a:r>
            <a:r>
              <a:rPr lang="en-US" altLang="zh-CN" dirty="0"/>
              <a:t>BGA</a:t>
            </a:r>
            <a:r>
              <a:rPr lang="zh-CN" altLang="en-US" dirty="0"/>
              <a:t>，单面放置，制作、维修简单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FPGA</a:t>
            </a:r>
            <a:r>
              <a:rPr lang="zh-CN" altLang="en-US" dirty="0"/>
              <a:t>空余</a:t>
            </a:r>
            <a:r>
              <a:rPr lang="en-US" altLang="zh-CN" dirty="0"/>
              <a:t>53</a:t>
            </a:r>
            <a:r>
              <a:rPr lang="zh-CN" altLang="en-US" dirty="0"/>
              <a:t>个</a:t>
            </a:r>
            <a:r>
              <a:rPr lang="en-US" altLang="zh-CN" dirty="0"/>
              <a:t>IO</a:t>
            </a:r>
            <a:r>
              <a:rPr lang="zh-CN" altLang="en-US" dirty="0"/>
              <a:t>（其中</a:t>
            </a:r>
            <a:r>
              <a:rPr lang="en-US" altLang="zh-CN" dirty="0"/>
              <a:t>CLK2 ~ CLK7</a:t>
            </a:r>
            <a:r>
              <a:rPr lang="zh-CN" altLang="en-US" dirty="0"/>
              <a:t>这</a:t>
            </a:r>
            <a:r>
              <a:rPr lang="en-US" altLang="zh-CN" dirty="0"/>
              <a:t>6</a:t>
            </a:r>
            <a:r>
              <a:rPr lang="zh-CN" altLang="en-US" dirty="0"/>
              <a:t>个只能作为输入）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STM32</a:t>
            </a:r>
            <a:r>
              <a:rPr lang="zh-CN" altLang="en-US" dirty="0"/>
              <a:t>空余</a:t>
            </a:r>
            <a:r>
              <a:rPr lang="en-US" altLang="zh-CN" dirty="0"/>
              <a:t>78</a:t>
            </a:r>
            <a:r>
              <a:rPr lang="zh-CN" altLang="en-US" dirty="0"/>
              <a:t>个</a:t>
            </a:r>
            <a:r>
              <a:rPr lang="en-US" altLang="zh-CN" dirty="0"/>
              <a:t>IO</a:t>
            </a:r>
            <a:r>
              <a:rPr lang="zh-CN" altLang="en-US" dirty="0"/>
              <a:t>（可能有个别</a:t>
            </a:r>
            <a:r>
              <a:rPr lang="en-US" altLang="zh-CN" dirty="0"/>
              <a:t>IO</a:t>
            </a:r>
            <a:r>
              <a:rPr lang="zh-CN" altLang="en-US" dirty="0"/>
              <a:t>与</a:t>
            </a:r>
            <a:r>
              <a:rPr lang="en-US" altLang="zh-CN" dirty="0"/>
              <a:t>FMC</a:t>
            </a:r>
            <a:r>
              <a:rPr lang="zh-CN" altLang="en-US" dirty="0"/>
              <a:t>总线冲突）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STM32</a:t>
            </a:r>
            <a:r>
              <a:rPr lang="zh-CN" altLang="en-US" dirty="0"/>
              <a:t>无外部时钟源，使用内部振荡器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9686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FB3EC5-8664-4AA7-A629-6470A80C2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FPGA</a:t>
            </a:r>
            <a:r>
              <a:rPr lang="zh-CN" altLang="en-US" dirty="0"/>
              <a:t>与</a:t>
            </a:r>
            <a:r>
              <a:rPr lang="en-US" altLang="zh-CN" dirty="0"/>
              <a:t>CPLD</a:t>
            </a:r>
            <a:r>
              <a:rPr lang="zh-CN" altLang="en-US" dirty="0"/>
              <a:t>的区别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69582DB-A090-4131-8C38-FF5FF5110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285306"/>
              </p:ext>
            </p:extLst>
          </p:nvPr>
        </p:nvGraphicFramePr>
        <p:xfrm>
          <a:off x="731520" y="914525"/>
          <a:ext cx="10808209" cy="5170761"/>
        </p:xfrm>
        <a:graphic>
          <a:graphicData uri="http://schemas.openxmlformats.org/drawingml/2006/table">
            <a:tbl>
              <a:tblPr/>
              <a:tblGrid>
                <a:gridCol w="1634595">
                  <a:extLst>
                    <a:ext uri="{9D8B030D-6E8A-4147-A177-3AD203B41FA5}">
                      <a16:colId xmlns:a16="http://schemas.microsoft.com/office/drawing/2014/main" val="3003264731"/>
                    </a:ext>
                  </a:extLst>
                </a:gridCol>
                <a:gridCol w="5022237">
                  <a:extLst>
                    <a:ext uri="{9D8B030D-6E8A-4147-A177-3AD203B41FA5}">
                      <a16:colId xmlns:a16="http://schemas.microsoft.com/office/drawing/2014/main" val="3822995074"/>
                    </a:ext>
                  </a:extLst>
                </a:gridCol>
                <a:gridCol w="4151377">
                  <a:extLst>
                    <a:ext uri="{9D8B030D-6E8A-4147-A177-3AD203B41FA5}">
                      <a16:colId xmlns:a16="http://schemas.microsoft.com/office/drawing/2014/main" val="2223822767"/>
                    </a:ext>
                  </a:extLst>
                </a:gridCol>
              </a:tblGrid>
              <a:tr h="202111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1" i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对比维度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400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Altera CPLD</a:t>
                      </a:r>
                      <a:endParaRPr lang="zh-CN" altLang="en-US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sz="1400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Altera FPGA</a:t>
                      </a:r>
                      <a:endParaRPr lang="zh-CN" altLang="en-US" sz="14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483787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内部硬件架构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基础单元为宏单元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+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全局互连矩阵，粗粒度、布线固定；全局交叉矩阵，布线资源充足、走线延迟固定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基础单元为逻辑单元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LE/ALM+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局部连线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+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全局时钟网络，细粒度；分段式可编程布线，走线灵活但延迟不固定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331741"/>
                  </a:ext>
                </a:extLst>
              </a:tr>
              <a:tr h="332889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存储结构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基于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Flash/EEPROM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，非易失性；断电后配置不丢失，上电立即运行，无需额外配置芯片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基于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SRAM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，易失性；断电配置丢失，上电必须从外部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Flash/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配置芯片加载程序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3942071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逻辑规模与资源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逻辑规模小，主流几十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~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几百个宏单元；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一般无专用硬件乘法器、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DSP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、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PLL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、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RAM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块、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FIFO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、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DMA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逻辑规模大，几千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~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几十万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LE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；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集成丰富硬核：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PLL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时钟管理、嵌入式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RAM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、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DSP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乘法器、高速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IO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、以太网、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DDR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控制器等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287618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时序与速度特性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延迟固定、时序简单、稳定性极强；典型主频几十</a:t>
                      </a:r>
                      <a:r>
                        <a:rPr lang="en-US" altLang="zh-CN" sz="1400" b="0" i="0">
                          <a:effectLst/>
                          <a:latin typeface="Calibri" panose="020F0502020204030204" pitchFamily="34" charset="0"/>
                        </a:rPr>
                        <a:t>MHz</a:t>
                      </a:r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，低速够用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延迟随布线变化，大型设计需手动时序优化；主流可达几百</a:t>
                      </a:r>
                      <a:r>
                        <a:rPr lang="en-US" altLang="zh-CN" sz="1400" b="0" i="0">
                          <a:effectLst/>
                          <a:latin typeface="Calibri" panose="020F0502020204030204" pitchFamily="34" charset="0"/>
                        </a:rPr>
                        <a:t>MHz</a:t>
                      </a:r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，高端</a:t>
                      </a:r>
                      <a:r>
                        <a:rPr lang="en-US" altLang="zh-CN" sz="1400" b="0" i="0">
                          <a:effectLst/>
                          <a:latin typeface="Calibri" panose="020F0502020204030204" pitchFamily="34" charset="0"/>
                        </a:rPr>
                        <a:t>GHz</a:t>
                      </a:r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级，支持高速信号处理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594226"/>
                  </a:ext>
                </a:extLst>
              </a:tr>
              <a:tr h="332889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功耗特性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静态功耗极低，待机几乎不耗电，适合低功耗、电池供电设备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SRAM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架构静态功耗更高，规模越大功耗越高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338801"/>
                  </a:ext>
                </a:extLst>
              </a:tr>
              <a:tr h="332889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上电与复位行为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上电瞬间完成配置，引脚状态可控，非常适合做系统总复位、电源时序控制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上电有毫秒级配置加载过程，上电期间引脚状态不定，一般不做主复位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228514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开发与配置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JTAG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直烧即可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，无需外置配置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Flash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，生产简单；逆向难度中等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常规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需搭配串行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/</a:t>
                      </a:r>
                      <a:r>
                        <a:rPr lang="zh-CN" altLang="en-US" sz="1400" b="1" i="0" dirty="0">
                          <a:effectLst/>
                          <a:latin typeface="Calibri" panose="020F0502020204030204" pitchFamily="34" charset="0"/>
                        </a:rPr>
                        <a:t>并行配置</a:t>
                      </a:r>
                      <a:r>
                        <a:rPr lang="en-US" altLang="zh-CN" sz="1400" b="1" i="0" dirty="0">
                          <a:effectLst/>
                          <a:latin typeface="Calibri" panose="020F0502020204030204" pitchFamily="34" charset="0"/>
                        </a:rPr>
                        <a:t>Flash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，多一颗外围器件；可配合配置芯片做多层加密，高端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FPGA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安全机制更强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097123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zh-CN" altLang="en-US" sz="1400" b="0" i="0">
                          <a:effectLst/>
                          <a:latin typeface="Calibri" panose="020F0502020204030204" pitchFamily="34" charset="0"/>
                        </a:rPr>
                        <a:t>典型适用场景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逻辑译码、地址译码、总线扩展、系统复位电路、电源时序、看门狗、简单分频、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IO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扩展、按键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/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继电器逻辑；要求上电即运行、低功耗、高可靠的场景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高速并行采集、多路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ADC/DAC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同步控制、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PLL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多路时钟管理、硬件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DSP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运算、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FIFO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缓存、多路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PWM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、电机驱动、数字滤波、算法加速、多路高速协议实现、图像显示、</a:t>
                      </a:r>
                      <a:r>
                        <a:rPr lang="en-US" altLang="zh-CN" sz="1400" b="0" i="0" dirty="0">
                          <a:effectLst/>
                          <a:latin typeface="Calibri" panose="020F0502020204030204" pitchFamily="34" charset="0"/>
                        </a:rPr>
                        <a:t>MCU+FPGA</a:t>
                      </a:r>
                      <a:r>
                        <a:rPr lang="zh-CN" altLang="en-US" sz="1400" b="0" i="0" dirty="0">
                          <a:effectLst/>
                          <a:latin typeface="Calibri" panose="020F0502020204030204" pitchFamily="34" charset="0"/>
                        </a:rPr>
                        <a:t>异构架构协处理</a:t>
                      </a:r>
                    </a:p>
                  </a:txBody>
                  <a:tcPr marL="71333" marR="71333" marT="35667" marB="35667" anchor="ctr">
                    <a:lnL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881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5240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6611EC-9780-4EB8-AA84-358CFB06E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什么时候上</a:t>
            </a:r>
            <a:r>
              <a:rPr lang="en-US" altLang="zh-CN" dirty="0"/>
              <a:t>FPGA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2B289E-1427-4F23-BFAA-584B90E17E17}"/>
              </a:ext>
            </a:extLst>
          </p:cNvPr>
          <p:cNvSpPr txBox="1"/>
          <p:nvPr/>
        </p:nvSpPr>
        <p:spPr>
          <a:xfrm>
            <a:off x="486918" y="992660"/>
            <a:ext cx="6782562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高速 </a:t>
            </a:r>
            <a:r>
              <a:rPr lang="en-US" altLang="zh-CN" dirty="0"/>
              <a:t>ADC</a:t>
            </a:r>
            <a:r>
              <a:rPr lang="zh-CN" altLang="en-US" dirty="0"/>
              <a:t>（</a:t>
            </a:r>
            <a:r>
              <a:rPr lang="en-US" altLang="zh-CN" dirty="0"/>
              <a:t>10Msps~50Msps</a:t>
            </a:r>
            <a:r>
              <a:rPr lang="zh-CN" altLang="en-US" dirty="0"/>
              <a:t>）连续采样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实时 </a:t>
            </a:r>
            <a:r>
              <a:rPr lang="en-US" altLang="zh-CN" dirty="0"/>
              <a:t>FFT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纳秒级时序控制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任意波形发生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多通道</a:t>
            </a:r>
            <a:r>
              <a:rPr lang="en-US" altLang="zh-CN" dirty="0"/>
              <a:t>ADC/DAC</a:t>
            </a:r>
            <a:r>
              <a:rPr lang="zh-CN" altLang="en-US" dirty="0"/>
              <a:t>同步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并发数据流处理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2576089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634039-6C2D-49F6-AF60-D22E00C75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STM32 + FPGA </a:t>
            </a:r>
            <a:r>
              <a:rPr lang="zh-CN" altLang="en-US" dirty="0"/>
              <a:t>到底能干嘛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7CED48-AFAD-4131-ACD9-A73865375C34}"/>
              </a:ext>
            </a:extLst>
          </p:cNvPr>
          <p:cNvSpPr txBox="1"/>
          <p:nvPr/>
        </p:nvSpPr>
        <p:spPr>
          <a:xfrm>
            <a:off x="706374" y="2553667"/>
            <a:ext cx="11052810" cy="25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我直接给你几个最直白、最接地气、工程上真实在用的例子，一看就懂。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FPGA +</a:t>
            </a:r>
            <a:r>
              <a:rPr lang="zh-CN" altLang="en-US" dirty="0"/>
              <a:t> </a:t>
            </a:r>
            <a:r>
              <a:rPr lang="en-US" altLang="zh-CN" dirty="0"/>
              <a:t>10MSPS ADC → </a:t>
            </a:r>
            <a:r>
              <a:rPr lang="zh-CN" altLang="en-US" dirty="0"/>
              <a:t>存到内部 </a:t>
            </a:r>
            <a:r>
              <a:rPr lang="en-US" altLang="zh-CN" dirty="0"/>
              <a:t>RAM →STM32 </a:t>
            </a:r>
            <a:r>
              <a:rPr lang="zh-CN" altLang="en-US" dirty="0"/>
              <a:t>通过 </a:t>
            </a:r>
            <a:r>
              <a:rPr lang="en-US" altLang="zh-CN" dirty="0"/>
              <a:t>FMC </a:t>
            </a:r>
            <a:r>
              <a:rPr lang="zh-CN" altLang="en-US" dirty="0"/>
              <a:t>一次性读走 </a:t>
            </a:r>
            <a:r>
              <a:rPr lang="en-US" altLang="zh-CN" dirty="0"/>
              <a:t>10000 </a:t>
            </a:r>
            <a:r>
              <a:rPr lang="zh-CN" altLang="en-US" dirty="0"/>
              <a:t>点数据；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STM32 </a:t>
            </a:r>
            <a:r>
              <a:rPr lang="zh-CN" altLang="en-US" dirty="0"/>
              <a:t>发命令计算</a:t>
            </a:r>
            <a:r>
              <a:rPr lang="en-US" altLang="zh-CN" dirty="0"/>
              <a:t>1024</a:t>
            </a:r>
            <a:r>
              <a:rPr lang="zh-CN" altLang="en-US" dirty="0"/>
              <a:t>点</a:t>
            </a:r>
            <a:r>
              <a:rPr lang="en-US" altLang="zh-CN" dirty="0"/>
              <a:t>FFT → FPGA 1us </a:t>
            </a:r>
            <a:r>
              <a:rPr lang="zh-CN" altLang="en-US" dirty="0"/>
              <a:t>算完 </a:t>
            </a:r>
            <a:r>
              <a:rPr lang="en-US" altLang="zh-CN" dirty="0"/>
              <a:t>→ STM32 </a:t>
            </a:r>
            <a:r>
              <a:rPr lang="zh-CN" altLang="en-US" dirty="0"/>
              <a:t>通过 </a:t>
            </a:r>
            <a:r>
              <a:rPr lang="en-US" altLang="zh-CN" dirty="0"/>
              <a:t>FMC </a:t>
            </a:r>
            <a:r>
              <a:rPr lang="zh-CN" altLang="en-US" dirty="0"/>
              <a:t>读结果；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扩展 </a:t>
            </a:r>
            <a:r>
              <a:rPr lang="en-US" altLang="zh-CN" dirty="0"/>
              <a:t>16 </a:t>
            </a:r>
            <a:r>
              <a:rPr lang="zh-CN" altLang="en-US" dirty="0"/>
              <a:t>路 </a:t>
            </a:r>
            <a:r>
              <a:rPr lang="en-US" altLang="zh-CN" dirty="0"/>
              <a:t>PWM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STM32 </a:t>
            </a:r>
            <a:r>
              <a:rPr lang="zh-CN" altLang="en-US" dirty="0"/>
              <a:t>把</a:t>
            </a:r>
            <a:r>
              <a:rPr lang="en-US" altLang="zh-CN" dirty="0"/>
              <a:t>10000 </a:t>
            </a:r>
            <a:r>
              <a:rPr lang="zh-CN" altLang="en-US" dirty="0"/>
              <a:t>点波形数据写入 </a:t>
            </a:r>
            <a:r>
              <a:rPr lang="en-US" altLang="zh-CN" dirty="0"/>
              <a:t>FPGA </a:t>
            </a:r>
            <a:r>
              <a:rPr lang="zh-CN" altLang="en-US" dirty="0"/>
              <a:t>内部寄存器</a:t>
            </a:r>
            <a:r>
              <a:rPr lang="en-US" altLang="zh-CN" dirty="0"/>
              <a:t>→ FPGA </a:t>
            </a:r>
            <a:r>
              <a:rPr lang="zh-CN" altLang="en-US" dirty="0"/>
              <a:t>按 </a:t>
            </a:r>
            <a:r>
              <a:rPr lang="en-US" altLang="zh-CN" dirty="0"/>
              <a:t>1MHz </a:t>
            </a:r>
            <a:r>
              <a:rPr lang="zh-CN" altLang="en-US" dirty="0"/>
              <a:t>速率输出波形数据给 </a:t>
            </a:r>
            <a:r>
              <a:rPr lang="en-US" altLang="zh-CN" dirty="0"/>
              <a:t>DAC</a:t>
            </a:r>
            <a:r>
              <a:rPr lang="zh-CN" altLang="en-US" dirty="0"/>
              <a:t>且</a:t>
            </a:r>
            <a:r>
              <a:rPr lang="en-US" altLang="zh-CN" dirty="0"/>
              <a:t>STM32</a:t>
            </a:r>
            <a:r>
              <a:rPr lang="zh-CN" altLang="en-US" dirty="0"/>
              <a:t>可随时改频率、改波形、改幅度。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11F2A0-B0B9-45A6-938D-19F5A1D90569}"/>
              </a:ext>
            </a:extLst>
          </p:cNvPr>
          <p:cNvSpPr txBox="1"/>
          <p:nvPr/>
        </p:nvSpPr>
        <p:spPr>
          <a:xfrm>
            <a:off x="706374" y="981748"/>
            <a:ext cx="6094476" cy="12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能做什么？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STM32 </a:t>
            </a:r>
            <a:r>
              <a:rPr lang="zh-CN" altLang="en-US" dirty="0"/>
              <a:t>写一个寄存器 → </a:t>
            </a:r>
            <a:r>
              <a:rPr lang="en-US" altLang="zh-CN" dirty="0"/>
              <a:t>FPGA </a:t>
            </a:r>
            <a:r>
              <a:rPr lang="zh-CN" altLang="en-US" dirty="0"/>
              <a:t>立刻执行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FPGA </a:t>
            </a:r>
            <a:r>
              <a:rPr lang="zh-CN" altLang="en-US" dirty="0"/>
              <a:t>把数据写进寄存器 → </a:t>
            </a:r>
            <a:r>
              <a:rPr lang="en-US" altLang="zh-CN" dirty="0"/>
              <a:t>STM32 </a:t>
            </a:r>
            <a:r>
              <a:rPr lang="zh-CN" altLang="en-US" dirty="0"/>
              <a:t>随时读</a:t>
            </a:r>
          </a:p>
        </p:txBody>
      </p:sp>
    </p:spTree>
    <p:extLst>
      <p:ext uri="{BB962C8B-B14F-4D97-AF65-F5344CB8AC3E}">
        <p14:creationId xmlns:p14="http://schemas.microsoft.com/office/powerpoint/2010/main" val="1269057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0441D6-F51C-4459-B024-D5A31A003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FMC</a:t>
            </a:r>
            <a:r>
              <a:rPr lang="zh-CN" altLang="en-US" dirty="0"/>
              <a:t>总线简介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293C6D-1DBF-485A-900C-7EBF10A09F1A}"/>
              </a:ext>
            </a:extLst>
          </p:cNvPr>
          <p:cNvSpPr txBox="1"/>
          <p:nvPr/>
        </p:nvSpPr>
        <p:spPr>
          <a:xfrm>
            <a:off x="583311" y="1022342"/>
            <a:ext cx="11025378" cy="25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FMC = Flexible Memory Controller</a:t>
            </a:r>
            <a:r>
              <a:rPr lang="zh-CN" altLang="en-US" dirty="0"/>
              <a:t>（灵活存储控制器），</a:t>
            </a:r>
            <a:r>
              <a:rPr lang="en-US" altLang="zh-CN" dirty="0"/>
              <a:t>FMC</a:t>
            </a:r>
            <a:r>
              <a:rPr lang="zh-CN" altLang="en-US" dirty="0"/>
              <a:t>总线是</a:t>
            </a:r>
            <a:r>
              <a:rPr lang="en-US" altLang="zh-CN" dirty="0"/>
              <a:t>STM32 </a:t>
            </a:r>
            <a:r>
              <a:rPr lang="zh-CN" altLang="en-US" dirty="0"/>
              <a:t>系列 </a:t>
            </a:r>
            <a:r>
              <a:rPr lang="en-US" altLang="zh-CN" dirty="0"/>
              <a:t>MCU </a:t>
            </a:r>
            <a:r>
              <a:rPr lang="zh-CN" altLang="en-US" dirty="0"/>
              <a:t>内置的片上高性能存储控制器总线。</a:t>
            </a:r>
            <a:r>
              <a:rPr lang="en-US" altLang="zh-CN" dirty="0"/>
              <a:t>STM32H7</a:t>
            </a:r>
            <a:r>
              <a:rPr lang="zh-CN" altLang="en-US" dirty="0"/>
              <a:t>系列</a:t>
            </a:r>
            <a:r>
              <a:rPr lang="en-US" altLang="zh-CN" dirty="0"/>
              <a:t>FMC </a:t>
            </a:r>
            <a:r>
              <a:rPr lang="zh-CN" altLang="en-US" dirty="0"/>
              <a:t>最高支持</a:t>
            </a:r>
            <a:r>
              <a:rPr lang="en-US" altLang="zh-CN" dirty="0"/>
              <a:t>133MHz</a:t>
            </a:r>
            <a:r>
              <a:rPr lang="zh-CN" altLang="en-US" dirty="0"/>
              <a:t>工作频率，</a:t>
            </a:r>
            <a:r>
              <a:rPr lang="en-US" altLang="zh-CN" dirty="0"/>
              <a:t>32 </a:t>
            </a:r>
            <a:r>
              <a:rPr lang="zh-CN" altLang="en-US" dirty="0"/>
              <a:t>位数据位宽，理论最高带宽可达</a:t>
            </a:r>
            <a:r>
              <a:rPr lang="en-US" altLang="zh-CN" dirty="0"/>
              <a:t>532MB/s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本开发板中</a:t>
            </a:r>
            <a:r>
              <a:rPr lang="en-US" altLang="zh-CN" dirty="0"/>
              <a:t>FPGA</a:t>
            </a:r>
            <a:r>
              <a:rPr lang="zh-CN" altLang="en-US" dirty="0"/>
              <a:t>模拟为存储器，</a:t>
            </a:r>
            <a:r>
              <a:rPr lang="en-US" altLang="zh-CN" dirty="0"/>
              <a:t>16</a:t>
            </a:r>
            <a:r>
              <a:rPr lang="zh-CN" altLang="en-US" dirty="0"/>
              <a:t>位数据线（</a:t>
            </a:r>
            <a:r>
              <a:rPr lang="en-US" altLang="zh-CN" dirty="0"/>
              <a:t>FMC_D[15:0]</a:t>
            </a:r>
            <a:r>
              <a:rPr lang="zh-CN" altLang="en-US" dirty="0"/>
              <a:t>），</a:t>
            </a:r>
            <a:r>
              <a:rPr lang="en-US" altLang="zh-CN" dirty="0"/>
              <a:t>15</a:t>
            </a:r>
            <a:r>
              <a:rPr lang="zh-CN" altLang="en-US" dirty="0"/>
              <a:t>位地址线（</a:t>
            </a:r>
            <a:r>
              <a:rPr lang="en-US" altLang="zh-CN" dirty="0"/>
              <a:t>FMC_A[14:0]</a:t>
            </a:r>
            <a:r>
              <a:rPr lang="zh-CN" altLang="en-US" dirty="0"/>
              <a:t>），外加</a:t>
            </a:r>
            <a:r>
              <a:rPr lang="en-US" altLang="zh-CN" dirty="0"/>
              <a:t>FMC_NE1</a:t>
            </a:r>
            <a:r>
              <a:rPr lang="zh-CN" altLang="en-US" dirty="0"/>
              <a:t>（片选）、</a:t>
            </a:r>
            <a:r>
              <a:rPr lang="en-US" altLang="zh-CN" dirty="0"/>
              <a:t>FMC_NOE</a:t>
            </a:r>
            <a:r>
              <a:rPr lang="zh-CN" altLang="en-US" dirty="0"/>
              <a:t>（输出使能）</a:t>
            </a:r>
            <a:r>
              <a:rPr lang="en-US" altLang="zh-CN" dirty="0"/>
              <a:t> </a:t>
            </a:r>
            <a:r>
              <a:rPr lang="zh-CN" altLang="en-US" dirty="0"/>
              <a:t>、</a:t>
            </a:r>
            <a:r>
              <a:rPr lang="en-US" altLang="zh-CN" dirty="0"/>
              <a:t>FMC_NWE </a:t>
            </a:r>
            <a:r>
              <a:rPr lang="zh-CN" altLang="en-US" dirty="0"/>
              <a:t>控制线（写使能）。如需</a:t>
            </a:r>
            <a:r>
              <a:rPr lang="en-US" altLang="zh-CN" dirty="0"/>
              <a:t>8</a:t>
            </a:r>
            <a:r>
              <a:rPr lang="zh-CN" altLang="en-US" dirty="0"/>
              <a:t>位数据读写，需要再连接</a:t>
            </a:r>
            <a:r>
              <a:rPr lang="en-US" altLang="zh-CN" dirty="0"/>
              <a:t>FMC_NBL0</a:t>
            </a:r>
            <a:r>
              <a:rPr lang="zh-CN" altLang="en-US" dirty="0"/>
              <a:t>、</a:t>
            </a:r>
            <a:r>
              <a:rPr lang="en-US" altLang="zh-CN" dirty="0"/>
              <a:t> FMC_NBL1</a:t>
            </a:r>
            <a:r>
              <a:rPr lang="zh-CN" altLang="en-US" dirty="0"/>
              <a:t>。</a:t>
            </a:r>
            <a:r>
              <a:rPr lang="en-US" altLang="zh-CN" dirty="0"/>
              <a:t>FPGA</a:t>
            </a:r>
            <a:r>
              <a:rPr lang="zh-CN" altLang="en-US" dirty="0"/>
              <a:t>所有</a:t>
            </a:r>
            <a:r>
              <a:rPr lang="en-US" altLang="zh-CN" dirty="0"/>
              <a:t>RAM</a:t>
            </a:r>
            <a:r>
              <a:rPr lang="zh-CN" altLang="en-US" dirty="0"/>
              <a:t>可以被直接映射到 </a:t>
            </a:r>
            <a:r>
              <a:rPr lang="en-US" altLang="zh-CN" dirty="0"/>
              <a:t>MCU </a:t>
            </a:r>
            <a:r>
              <a:rPr lang="zh-CN" altLang="en-US" dirty="0"/>
              <a:t>的系统地址空间，</a:t>
            </a:r>
            <a:r>
              <a:rPr lang="en-US" altLang="zh-CN" dirty="0"/>
              <a:t>CPU </a:t>
            </a:r>
            <a:r>
              <a:rPr lang="zh-CN" altLang="en-US" dirty="0"/>
              <a:t>可通过指针直接访问，无需复杂的读写时序，开发难度极低。</a:t>
            </a:r>
          </a:p>
        </p:txBody>
      </p:sp>
    </p:spTree>
    <p:extLst>
      <p:ext uri="{BB962C8B-B14F-4D97-AF65-F5344CB8AC3E}">
        <p14:creationId xmlns:p14="http://schemas.microsoft.com/office/powerpoint/2010/main" val="1788817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B505F9-EE2A-4C06-8CE4-5CFD6637E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开发板布局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FC4DBC3-13E2-4D5D-AE98-C985D167D8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202" y="591210"/>
            <a:ext cx="6567014" cy="596503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EF2C506-7FA8-4A27-A930-0D544C2B0A3F}"/>
              </a:ext>
            </a:extLst>
          </p:cNvPr>
          <p:cNvSpPr/>
          <p:nvPr/>
        </p:nvSpPr>
        <p:spPr>
          <a:xfrm>
            <a:off x="1929384" y="4636008"/>
            <a:ext cx="3300984" cy="19202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6B4A12-DB70-4383-BC9B-280671F7281A}"/>
              </a:ext>
            </a:extLst>
          </p:cNvPr>
          <p:cNvSpPr/>
          <p:nvPr/>
        </p:nvSpPr>
        <p:spPr>
          <a:xfrm>
            <a:off x="1929384" y="1295400"/>
            <a:ext cx="941832" cy="33406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9322E42-6606-4C6A-9209-2B2C8BB548B0}"/>
              </a:ext>
            </a:extLst>
          </p:cNvPr>
          <p:cNvSpPr txBox="1"/>
          <p:nvPr/>
        </p:nvSpPr>
        <p:spPr>
          <a:xfrm>
            <a:off x="130869" y="3742768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STM32 IO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0DF55B-0BA1-4240-A292-DCEF9AB4020A}"/>
              </a:ext>
            </a:extLst>
          </p:cNvPr>
          <p:cNvSpPr/>
          <p:nvPr/>
        </p:nvSpPr>
        <p:spPr>
          <a:xfrm>
            <a:off x="5394960" y="4636008"/>
            <a:ext cx="3191256" cy="19202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FE93CCE-BF52-4B19-8D00-01DDB59D327A}"/>
              </a:ext>
            </a:extLst>
          </p:cNvPr>
          <p:cNvSpPr txBox="1"/>
          <p:nvPr/>
        </p:nvSpPr>
        <p:spPr>
          <a:xfrm>
            <a:off x="8676034" y="5475470"/>
            <a:ext cx="95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FPGA IO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03E9354-3B0F-4FC9-A38A-15F894E65149}"/>
              </a:ext>
            </a:extLst>
          </p:cNvPr>
          <p:cNvCxnSpPr>
            <a:cxnSpLocks/>
          </p:cNvCxnSpPr>
          <p:nvPr/>
        </p:nvCxnSpPr>
        <p:spPr>
          <a:xfrm flipV="1">
            <a:off x="8253984" y="2215527"/>
            <a:ext cx="1274064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0B6D0B5-A9F9-43E3-91FC-8C9CA075EB13}"/>
              </a:ext>
            </a:extLst>
          </p:cNvPr>
          <p:cNvCxnSpPr>
            <a:cxnSpLocks/>
          </p:cNvCxnSpPr>
          <p:nvPr/>
        </p:nvCxnSpPr>
        <p:spPr>
          <a:xfrm flipV="1">
            <a:off x="8204541" y="3190369"/>
            <a:ext cx="1323507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4389C594-1218-480A-9196-3E875C7BFB90}"/>
              </a:ext>
            </a:extLst>
          </p:cNvPr>
          <p:cNvSpPr txBox="1"/>
          <p:nvPr/>
        </p:nvSpPr>
        <p:spPr>
          <a:xfrm>
            <a:off x="9502640" y="2026297"/>
            <a:ext cx="2333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FPGA</a:t>
            </a:r>
            <a:r>
              <a:rPr lang="zh-CN" altLang="en-US" dirty="0"/>
              <a:t>调试口（</a:t>
            </a:r>
            <a:r>
              <a:rPr lang="en-US" altLang="zh-CN" dirty="0"/>
              <a:t>JTAG</a:t>
            </a:r>
            <a:r>
              <a:rPr lang="zh-CN" altLang="en-US" dirty="0"/>
              <a:t>）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256102A-72BE-46F1-A950-42EC82747FD6}"/>
              </a:ext>
            </a:extLst>
          </p:cNvPr>
          <p:cNvSpPr txBox="1"/>
          <p:nvPr/>
        </p:nvSpPr>
        <p:spPr>
          <a:xfrm>
            <a:off x="9502640" y="3002887"/>
            <a:ext cx="2594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FPGA</a:t>
            </a:r>
            <a:r>
              <a:rPr lang="zh-CN" altLang="en-US" dirty="0"/>
              <a:t>烧录口（</a:t>
            </a:r>
            <a:r>
              <a:rPr lang="en-US" altLang="zh-CN" dirty="0"/>
              <a:t>AS</a:t>
            </a:r>
            <a:r>
              <a:rPr lang="zh-CN" altLang="en-US" dirty="0"/>
              <a:t>）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DB7C85E-B568-4EB1-A022-AEE268C40D74}"/>
              </a:ext>
            </a:extLst>
          </p:cNvPr>
          <p:cNvCxnSpPr>
            <a:cxnSpLocks/>
          </p:cNvCxnSpPr>
          <p:nvPr/>
        </p:nvCxnSpPr>
        <p:spPr>
          <a:xfrm flipV="1">
            <a:off x="7537704" y="3910275"/>
            <a:ext cx="1990344" cy="1603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7904AC56-0BF9-4B6D-90DB-B705DE8D327B}"/>
              </a:ext>
            </a:extLst>
          </p:cNvPr>
          <p:cNvSpPr txBox="1"/>
          <p:nvPr/>
        </p:nvSpPr>
        <p:spPr>
          <a:xfrm>
            <a:off x="9528048" y="3637118"/>
            <a:ext cx="1990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FPGA</a:t>
            </a:r>
            <a:r>
              <a:rPr lang="zh-CN" altLang="en-US" dirty="0"/>
              <a:t>配置芯片</a:t>
            </a:r>
            <a:r>
              <a:rPr lang="en-US" altLang="zh-CN" dirty="0"/>
              <a:t>EPCS16</a:t>
            </a:r>
            <a:r>
              <a:rPr lang="zh-CN" altLang="en-US" dirty="0"/>
              <a:t>（</a:t>
            </a:r>
            <a:r>
              <a:rPr lang="en-US" altLang="zh-CN" dirty="0"/>
              <a:t>W25Q16</a:t>
            </a:r>
            <a:r>
              <a:rPr lang="zh-CN" altLang="en-US" dirty="0"/>
              <a:t>）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5D03719E-4974-46C0-9203-D659608BA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3614" y="616797"/>
            <a:ext cx="1266345" cy="1396004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76669A93-0402-440B-9739-B1F3D53D2095}"/>
              </a:ext>
            </a:extLst>
          </p:cNvPr>
          <p:cNvSpPr txBox="1"/>
          <p:nvPr/>
        </p:nvSpPr>
        <p:spPr>
          <a:xfrm>
            <a:off x="256086" y="89594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螺丝孔全部接地</a:t>
            </a:r>
          </a:p>
        </p:txBody>
      </p:sp>
      <p:sp>
        <p:nvSpPr>
          <p:cNvPr id="3" name="左大括号 2">
            <a:extLst>
              <a:ext uri="{FF2B5EF4-FFF2-40B4-BE49-F238E27FC236}">
                <a16:creationId xmlns:a16="http://schemas.microsoft.com/office/drawing/2014/main" id="{A69D46D4-7FA2-4909-B577-02B7B3ADB688}"/>
              </a:ext>
            </a:extLst>
          </p:cNvPr>
          <p:cNvSpPr/>
          <p:nvPr/>
        </p:nvSpPr>
        <p:spPr>
          <a:xfrm>
            <a:off x="1388267" y="1426635"/>
            <a:ext cx="376526" cy="5001598"/>
          </a:xfrm>
          <a:prstGeom prst="lef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616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CB6BB9-4A31-477F-8E6D-F6A8BBD78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例程简介</a:t>
            </a:r>
            <a:r>
              <a:rPr lang="en-US" altLang="zh-CN" dirty="0"/>
              <a:t>——STM32</a:t>
            </a:r>
            <a:r>
              <a:rPr lang="zh-CN" altLang="en-US" dirty="0"/>
              <a:t>时钟树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2433AD7-91B9-4C2A-B465-CAA2865E9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6624" y="4843457"/>
            <a:ext cx="3452159" cy="14479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6AABE58-39D0-4396-AE76-B358BFD32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873264"/>
            <a:ext cx="11722608" cy="3613471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2F4B475-4834-4E94-B7B0-C4E591EAC829}"/>
              </a:ext>
            </a:extLst>
          </p:cNvPr>
          <p:cNvSpPr/>
          <p:nvPr/>
        </p:nvSpPr>
        <p:spPr>
          <a:xfrm>
            <a:off x="2642616" y="4059936"/>
            <a:ext cx="1252728" cy="4267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1B8A1CB3-8B6A-453F-ABA2-3C56C05B0720}"/>
              </a:ext>
            </a:extLst>
          </p:cNvPr>
          <p:cNvCxnSpPr>
            <a:cxnSpLocks/>
          </p:cNvCxnSpPr>
          <p:nvPr/>
        </p:nvCxnSpPr>
        <p:spPr>
          <a:xfrm>
            <a:off x="3895344" y="4486737"/>
            <a:ext cx="3821280" cy="96308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909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7DE7BE-F58E-4C24-B6EC-13DA7DC9F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STM32</a:t>
            </a:r>
            <a:r>
              <a:rPr lang="zh-CN" altLang="en-US" dirty="0"/>
              <a:t> </a:t>
            </a:r>
            <a:r>
              <a:rPr lang="en-US" altLang="zh-CN" dirty="0"/>
              <a:t>FMC</a:t>
            </a:r>
            <a:r>
              <a:rPr lang="zh-CN" altLang="en-US" dirty="0"/>
              <a:t>的配置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FBF5141-74E9-45B2-8A58-07F0BB576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21" y="1088136"/>
            <a:ext cx="5813502" cy="31089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66C3182-3F27-4709-B861-88563B173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139" y="3547872"/>
            <a:ext cx="5655887" cy="254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657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12171-11FF-4963-A5D5-87D711888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STM32</a:t>
            </a:r>
            <a:r>
              <a:rPr lang="zh-CN" altLang="en-US" dirty="0"/>
              <a:t> </a:t>
            </a:r>
            <a:r>
              <a:rPr lang="en-US" altLang="zh-CN" dirty="0"/>
              <a:t>MPU</a:t>
            </a:r>
            <a:r>
              <a:rPr lang="zh-CN" altLang="en-US" dirty="0"/>
              <a:t>的配置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FCD7493-A216-477E-A3E5-6C7C86045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45" y="945740"/>
            <a:ext cx="11340850" cy="529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320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85AE14-2B17-4CC1-8823-660D21DAC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AI</a:t>
            </a:r>
            <a:r>
              <a:rPr lang="zh-CN" altLang="en-US" dirty="0"/>
              <a:t>辅助</a:t>
            </a:r>
            <a:r>
              <a:rPr lang="en-US" altLang="zh-CN" dirty="0"/>
              <a:t>FPGA</a:t>
            </a:r>
            <a:r>
              <a:rPr lang="zh-CN" altLang="en-US" dirty="0"/>
              <a:t>编码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DFFF5B1-9A7A-4654-B15D-9BB5C02F3195}"/>
              </a:ext>
            </a:extLst>
          </p:cNvPr>
          <p:cNvSpPr txBox="1"/>
          <p:nvPr/>
        </p:nvSpPr>
        <p:spPr>
          <a:xfrm>
            <a:off x="542163" y="5242852"/>
            <a:ext cx="11363706" cy="875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“给我一份</a:t>
            </a:r>
            <a:r>
              <a:rPr lang="en-US" altLang="zh-CN" dirty="0"/>
              <a:t>ep4ce10e22</a:t>
            </a:r>
            <a:r>
              <a:rPr lang="zh-CN" altLang="en-US" dirty="0"/>
              <a:t>与</a:t>
            </a:r>
            <a:r>
              <a:rPr lang="en-US" altLang="zh-CN" dirty="0"/>
              <a:t>stm32h723</a:t>
            </a:r>
            <a:r>
              <a:rPr lang="zh-CN" altLang="en-US" dirty="0"/>
              <a:t>实现</a:t>
            </a:r>
            <a:r>
              <a:rPr lang="en-US" altLang="zh-CN" dirty="0" err="1"/>
              <a:t>fmc</a:t>
            </a:r>
            <a:r>
              <a:rPr lang="zh-CN" altLang="en-US" dirty="0"/>
              <a:t>总线连接的</a:t>
            </a:r>
            <a:r>
              <a:rPr lang="en-US" altLang="zh-CN" dirty="0" err="1"/>
              <a:t>verilog</a:t>
            </a:r>
            <a:r>
              <a:rPr lang="zh-CN" altLang="en-US" dirty="0"/>
              <a:t>代码，其中数据线宽度</a:t>
            </a:r>
            <a:r>
              <a:rPr lang="en-US" altLang="zh-CN" dirty="0"/>
              <a:t>16-bit</a:t>
            </a:r>
            <a:r>
              <a:rPr lang="zh-CN" altLang="en-US" dirty="0"/>
              <a:t>，地址线</a:t>
            </a:r>
            <a:r>
              <a:rPr lang="en-US" altLang="zh-CN" dirty="0"/>
              <a:t>15-bit</a:t>
            </a:r>
            <a:r>
              <a:rPr lang="zh-CN" altLang="en-US" dirty="0"/>
              <a:t>，地址数据不复用，控制信号是</a:t>
            </a:r>
            <a:r>
              <a:rPr lang="en-US" altLang="zh-CN" dirty="0"/>
              <a:t>FMC_NE1</a:t>
            </a:r>
            <a:r>
              <a:rPr lang="zh-CN" altLang="en-US" dirty="0"/>
              <a:t>（片选）、</a:t>
            </a:r>
            <a:r>
              <a:rPr lang="en-US" altLang="zh-CN" dirty="0"/>
              <a:t>FMC_NOE</a:t>
            </a:r>
            <a:r>
              <a:rPr lang="zh-CN" altLang="en-US" dirty="0"/>
              <a:t>（输出使能） 、</a:t>
            </a:r>
            <a:r>
              <a:rPr lang="en-US" altLang="zh-CN" dirty="0"/>
              <a:t>FMC_NWE</a:t>
            </a:r>
            <a:r>
              <a:rPr lang="zh-CN" altLang="en-US" dirty="0"/>
              <a:t>（写使能）。无</a:t>
            </a:r>
            <a:r>
              <a:rPr lang="en-US" altLang="zh-CN" dirty="0"/>
              <a:t>NBL</a:t>
            </a:r>
            <a:r>
              <a:rPr lang="zh-CN" altLang="en-US" dirty="0"/>
              <a:t>信号。”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17A660-B24F-496C-A3D9-6FFB4178A5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952" y="739267"/>
            <a:ext cx="2955105" cy="438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09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4467DE-97A4-4983-93F6-0D798847C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FPGA</a:t>
            </a:r>
            <a:r>
              <a:rPr lang="zh-CN" altLang="en-US" dirty="0"/>
              <a:t>锁相环配置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57F240-9B2D-48C5-9C04-316A84100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31" y="1483771"/>
            <a:ext cx="10700537" cy="436946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25166BD-3D96-4B92-8239-A62D9A1169FD}"/>
              </a:ext>
            </a:extLst>
          </p:cNvPr>
          <p:cNvSpPr/>
          <p:nvPr/>
        </p:nvSpPr>
        <p:spPr>
          <a:xfrm>
            <a:off x="9116568" y="1709928"/>
            <a:ext cx="2329700" cy="17190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422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613964D-3B76-4C36-8C13-11014AA47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21" y="1033272"/>
            <a:ext cx="5194554" cy="4173215"/>
          </a:xfrm>
          <a:prstGeom prst="rect">
            <a:avLst/>
          </a:prstGeom>
        </p:spPr>
      </p:pic>
      <p:sp>
        <p:nvSpPr>
          <p:cNvPr id="4" name="标题 3">
            <a:extLst>
              <a:ext uri="{FF2B5EF4-FFF2-40B4-BE49-F238E27FC236}">
                <a16:creationId xmlns:a16="http://schemas.microsoft.com/office/drawing/2014/main" id="{A60592B1-B552-4B16-9B2E-5EE37B05E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FPGA</a:t>
            </a:r>
            <a:r>
              <a:rPr lang="zh-CN" altLang="en-US" dirty="0"/>
              <a:t>锁相环配置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6FF65F4-11BF-427C-8747-D48D892B0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677046"/>
            <a:ext cx="5592959" cy="465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569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DAC0B1C-EF83-4A5D-926C-9E33B7439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05" y="786231"/>
            <a:ext cx="4431736" cy="368503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783CE23-596D-4A64-945A-8FDFFA1A8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153" y="786231"/>
            <a:ext cx="4431736" cy="368503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8DCA77E-DC50-4656-83D4-94560DA27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561" y="2724853"/>
            <a:ext cx="4849248" cy="403219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8D6B84D-C692-4EFC-9D59-6DCAA5A6A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FPGA</a:t>
            </a:r>
            <a:r>
              <a:rPr lang="zh-CN" altLang="en-US" dirty="0"/>
              <a:t>锁相环配置</a:t>
            </a:r>
          </a:p>
        </p:txBody>
      </p:sp>
    </p:spTree>
    <p:extLst>
      <p:ext uri="{BB962C8B-B14F-4D97-AF65-F5344CB8AC3E}">
        <p14:creationId xmlns:p14="http://schemas.microsoft.com/office/powerpoint/2010/main" val="212892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D6E7AD0-837F-4325-853E-52C6683BF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6554" y="3127907"/>
            <a:ext cx="4160881" cy="339119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AE4F2B9-1AC0-4913-BF8C-F91E51444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849" y="929064"/>
            <a:ext cx="3843287" cy="26273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82BBA38-EDED-4EA8-85C0-1E4A88E4E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370" y="1024786"/>
            <a:ext cx="5607609" cy="4662782"/>
          </a:xfrm>
          <a:prstGeom prst="rect">
            <a:avLst/>
          </a:prstGeom>
        </p:spPr>
      </p:pic>
      <p:sp>
        <p:nvSpPr>
          <p:cNvPr id="8" name="标题 7">
            <a:extLst>
              <a:ext uri="{FF2B5EF4-FFF2-40B4-BE49-F238E27FC236}">
                <a16:creationId xmlns:a16="http://schemas.microsoft.com/office/drawing/2014/main" id="{117104F0-5FF8-458C-A328-07D05E34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FPGA</a:t>
            </a:r>
            <a:r>
              <a:rPr lang="zh-CN" altLang="en-US" dirty="0"/>
              <a:t>锁相环配置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4E60F0-886E-4E64-8703-EA74D0117E71}"/>
              </a:ext>
            </a:extLst>
          </p:cNvPr>
          <p:cNvSpPr/>
          <p:nvPr/>
        </p:nvSpPr>
        <p:spPr>
          <a:xfrm>
            <a:off x="2734056" y="2021483"/>
            <a:ext cx="3218688" cy="7857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513B2C-AF1F-4ECD-A5C4-C730B4CC2BE1}"/>
              </a:ext>
            </a:extLst>
          </p:cNvPr>
          <p:cNvSpPr/>
          <p:nvPr/>
        </p:nvSpPr>
        <p:spPr>
          <a:xfrm>
            <a:off x="8257032" y="5687568"/>
            <a:ext cx="1691640" cy="228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288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9C81787-BEF2-4B57-B0D3-EF362E4ED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放置锁相环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425124C-304C-441A-9483-76A659CA1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46" y="936598"/>
            <a:ext cx="9042307" cy="548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803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6C1D3B-2AD1-4500-AA53-C2F1A0C65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放置、连接</a:t>
            </a:r>
            <a:r>
              <a:rPr lang="en-US" altLang="zh-CN" dirty="0"/>
              <a:t>FMC</a:t>
            </a:r>
            <a:r>
              <a:rPr lang="zh-CN" altLang="en-US" dirty="0"/>
              <a:t>模块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F1B0078-6FC5-4954-B3E3-12C4C614C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687" y="1005841"/>
            <a:ext cx="9152413" cy="211092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49B4FCC-EDCC-4937-847D-6206F427F02B}"/>
              </a:ext>
            </a:extLst>
          </p:cNvPr>
          <p:cNvSpPr txBox="1"/>
          <p:nvPr/>
        </p:nvSpPr>
        <p:spPr>
          <a:xfrm>
            <a:off x="660654" y="333912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编译后分配管脚，再编译一次。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8A0EFDF-C441-44A8-BFB4-0F46A9C9E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26" y="3888208"/>
            <a:ext cx="11011425" cy="14149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81A47DF-84DE-45FD-BC11-4823FD2D3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0637" y="3523790"/>
            <a:ext cx="6431837" cy="285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6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9D272-4593-4C3B-9C32-9758CF495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STM32</a:t>
            </a:r>
            <a:r>
              <a:rPr lang="zh-CN" altLang="en-US" dirty="0"/>
              <a:t>测试例程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B7AAE8-D505-4BB3-BDCD-BC43F8C0193A}"/>
              </a:ext>
            </a:extLst>
          </p:cNvPr>
          <p:cNvSpPr txBox="1"/>
          <p:nvPr/>
        </p:nvSpPr>
        <p:spPr>
          <a:xfrm>
            <a:off x="880110" y="936043"/>
            <a:ext cx="6094476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dirty="0"/>
              <a:t>// FMC 16bit </a:t>
            </a:r>
            <a:r>
              <a:rPr lang="zh-CN" altLang="en-US" sz="1200" dirty="0"/>
              <a:t>指针  指向 </a:t>
            </a:r>
            <a:r>
              <a:rPr lang="en-US" altLang="zh-CN" sz="1200" dirty="0"/>
              <a:t>FPGA</a:t>
            </a:r>
          </a:p>
          <a:p>
            <a:r>
              <a:rPr lang="en-US" altLang="zh-CN" sz="1200" dirty="0"/>
              <a:t>#define FPGA_BASE_ADDR  0x60000000</a:t>
            </a:r>
          </a:p>
          <a:p>
            <a:r>
              <a:rPr lang="en-US" altLang="zh-CN" sz="1200" dirty="0"/>
              <a:t>#define FPGA           ((volatile uint16_t *)FPGA_BASE_ADDR)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9F63BBD-A19F-4A72-B2AA-A289D190D018}"/>
              </a:ext>
            </a:extLst>
          </p:cNvPr>
          <p:cNvSpPr txBox="1"/>
          <p:nvPr/>
        </p:nvSpPr>
        <p:spPr>
          <a:xfrm>
            <a:off x="880110" y="1769620"/>
            <a:ext cx="6094476" cy="45243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200" dirty="0"/>
              <a:t>uint16_t </a:t>
            </a:r>
            <a:r>
              <a:rPr lang="en-US" altLang="zh-CN" sz="1200" dirty="0" err="1"/>
              <a:t>w_data</a:t>
            </a:r>
            <a:r>
              <a:rPr lang="en-US" altLang="zh-CN" sz="1200" dirty="0"/>
              <a:t> = 0;</a:t>
            </a:r>
          </a:p>
          <a:p>
            <a:r>
              <a:rPr lang="en-US" altLang="zh-CN" sz="1200" dirty="0"/>
              <a:t>uint16_t </a:t>
            </a:r>
            <a:r>
              <a:rPr lang="en-US" altLang="zh-CN" sz="1200" dirty="0" err="1"/>
              <a:t>r_data</a:t>
            </a:r>
            <a:r>
              <a:rPr lang="en-US" altLang="zh-CN" sz="1200" dirty="0"/>
              <a:t>;</a:t>
            </a:r>
          </a:p>
          <a:p>
            <a:r>
              <a:rPr lang="en-US" altLang="zh-CN" sz="1200" dirty="0"/>
              <a:t>uint16_t </a:t>
            </a:r>
            <a:r>
              <a:rPr lang="en-US" altLang="zh-CN" sz="1200" dirty="0" err="1"/>
              <a:t>reg_addr</a:t>
            </a:r>
            <a:r>
              <a:rPr lang="en-US" altLang="zh-CN" sz="1200" dirty="0"/>
              <a:t> = 0;</a:t>
            </a:r>
          </a:p>
          <a:p>
            <a:endParaRPr lang="en-US" altLang="zh-CN" sz="1200" dirty="0"/>
          </a:p>
          <a:p>
            <a:r>
              <a:rPr lang="en-US" altLang="zh-CN" sz="1200" dirty="0"/>
              <a:t>while (1)</a:t>
            </a:r>
          </a:p>
          <a:p>
            <a:r>
              <a:rPr lang="en-US" altLang="zh-CN" sz="1200" dirty="0"/>
              <a:t>{</a:t>
            </a:r>
          </a:p>
          <a:p>
            <a:r>
              <a:rPr lang="en-US" altLang="zh-CN" sz="1200" dirty="0"/>
              <a:t>    FPGA[</a:t>
            </a:r>
            <a:r>
              <a:rPr lang="en-US" altLang="zh-CN" sz="1200" dirty="0" err="1"/>
              <a:t>reg_addr</a:t>
            </a:r>
            <a:r>
              <a:rPr lang="en-US" altLang="zh-CN" sz="1200" dirty="0"/>
              <a:t>] = </a:t>
            </a:r>
            <a:r>
              <a:rPr lang="en-US" altLang="zh-CN" sz="1200" dirty="0" err="1"/>
              <a:t>w_data</a:t>
            </a:r>
            <a:r>
              <a:rPr lang="en-US" altLang="zh-CN" sz="1200" dirty="0"/>
              <a:t>;    //</a:t>
            </a:r>
            <a:r>
              <a:rPr lang="zh-CN" altLang="en-US" sz="1200" dirty="0"/>
              <a:t>写 </a:t>
            </a:r>
            <a:r>
              <a:rPr lang="en-US" altLang="zh-CN" sz="1200" dirty="0"/>
              <a:t>FPGA</a:t>
            </a:r>
            <a:r>
              <a:rPr lang="zh-CN" altLang="en-US" sz="1200" dirty="0"/>
              <a:t>寄存器</a:t>
            </a:r>
            <a:endParaRPr lang="en-US" altLang="zh-CN" sz="1200" dirty="0"/>
          </a:p>
          <a:p>
            <a:r>
              <a:rPr lang="en-US" altLang="zh-CN" sz="1200" dirty="0"/>
              <a:t>    </a:t>
            </a:r>
            <a:r>
              <a:rPr lang="en-US" altLang="zh-CN" sz="1200" dirty="0" err="1"/>
              <a:t>r_data</a:t>
            </a:r>
            <a:r>
              <a:rPr lang="en-US" altLang="zh-CN" sz="1200" dirty="0"/>
              <a:t> = FPGA[</a:t>
            </a:r>
            <a:r>
              <a:rPr lang="en-US" altLang="zh-CN" sz="1200" dirty="0" err="1"/>
              <a:t>reg_addr</a:t>
            </a:r>
            <a:r>
              <a:rPr lang="en-US" altLang="zh-CN" sz="1200" dirty="0"/>
              <a:t>];     //</a:t>
            </a:r>
            <a:r>
              <a:rPr lang="zh-CN" altLang="en-US" sz="1200" dirty="0"/>
              <a:t>回读</a:t>
            </a:r>
            <a:endParaRPr lang="en-US" altLang="zh-CN" sz="1200" dirty="0"/>
          </a:p>
          <a:p>
            <a:r>
              <a:rPr lang="en-US" altLang="zh-CN" sz="1200" dirty="0"/>
              <a:t>    if(</a:t>
            </a:r>
            <a:r>
              <a:rPr lang="en-US" altLang="zh-CN" sz="1200" dirty="0" err="1"/>
              <a:t>r_data</a:t>
            </a:r>
            <a:r>
              <a:rPr lang="en-US" altLang="zh-CN" sz="1200" dirty="0"/>
              <a:t> == </a:t>
            </a:r>
            <a:r>
              <a:rPr lang="en-US" altLang="zh-CN" sz="1200" dirty="0" err="1"/>
              <a:t>w_data</a:t>
            </a:r>
            <a:r>
              <a:rPr lang="en-US" altLang="zh-CN" sz="1200" dirty="0"/>
              <a:t>)              //</a:t>
            </a:r>
            <a:r>
              <a:rPr lang="zh-CN" altLang="en-US" sz="1200" dirty="0"/>
              <a:t>读写内容匹配</a:t>
            </a:r>
            <a:endParaRPr lang="en-US" altLang="zh-CN" sz="1200" dirty="0"/>
          </a:p>
          <a:p>
            <a:r>
              <a:rPr lang="en-US" altLang="zh-CN" sz="1200" dirty="0"/>
              <a:t>    {</a:t>
            </a:r>
          </a:p>
          <a:p>
            <a:r>
              <a:rPr lang="en-US" altLang="zh-CN" sz="1200" dirty="0"/>
              <a:t>        if(</a:t>
            </a:r>
            <a:r>
              <a:rPr lang="en-US" altLang="zh-CN" sz="1200" dirty="0" err="1"/>
              <a:t>reg_addr</a:t>
            </a:r>
            <a:r>
              <a:rPr lang="en-US" altLang="zh-CN" sz="1200" dirty="0"/>
              <a:t> &lt; 20000)         //</a:t>
            </a:r>
            <a:r>
              <a:rPr lang="zh-CN" altLang="en-US" sz="1200" dirty="0"/>
              <a:t>没有测完所有寄存器</a:t>
            </a:r>
            <a:endParaRPr lang="en-US" altLang="zh-CN" sz="1200" dirty="0"/>
          </a:p>
          <a:p>
            <a:r>
              <a:rPr lang="en-US" altLang="zh-CN" sz="1200" dirty="0"/>
              <a:t>        {</a:t>
            </a:r>
          </a:p>
          <a:p>
            <a:r>
              <a:rPr lang="en-US" altLang="zh-CN" sz="1200" dirty="0"/>
              <a:t>            </a:t>
            </a:r>
            <a:r>
              <a:rPr lang="en-US" altLang="zh-CN" sz="1200" dirty="0" err="1"/>
              <a:t>w_data</a:t>
            </a:r>
            <a:r>
              <a:rPr lang="en-US" altLang="zh-CN" sz="1200" dirty="0"/>
              <a:t>++; </a:t>
            </a:r>
          </a:p>
          <a:p>
            <a:r>
              <a:rPr lang="en-US" altLang="zh-CN" sz="1200" dirty="0"/>
              <a:t>            </a:t>
            </a:r>
            <a:r>
              <a:rPr lang="en-US" altLang="zh-CN" sz="1200" dirty="0" err="1"/>
              <a:t>reg_addr</a:t>
            </a:r>
            <a:r>
              <a:rPr lang="en-US" altLang="zh-CN" sz="1200" dirty="0"/>
              <a:t>++;                    //</a:t>
            </a:r>
            <a:r>
              <a:rPr lang="zh-CN" altLang="en-US" sz="1200" dirty="0"/>
              <a:t>继续测试下一个地址的寄存器</a:t>
            </a:r>
            <a:endParaRPr lang="en-US" altLang="zh-CN" sz="1200" dirty="0"/>
          </a:p>
          <a:p>
            <a:r>
              <a:rPr lang="en-US" altLang="zh-CN" sz="1200" dirty="0"/>
              <a:t>        }</a:t>
            </a:r>
          </a:p>
          <a:p>
            <a:r>
              <a:rPr lang="en-US" altLang="zh-CN" sz="1200" dirty="0"/>
              <a:t>       else                                       //</a:t>
            </a:r>
            <a:r>
              <a:rPr lang="zh-CN" altLang="en-US" sz="1200" dirty="0"/>
              <a:t>循环测试</a:t>
            </a:r>
            <a:endParaRPr lang="en-US" altLang="zh-CN" sz="1200" dirty="0"/>
          </a:p>
          <a:p>
            <a:r>
              <a:rPr lang="en-US" altLang="zh-CN" sz="1200" dirty="0"/>
              <a:t>       {</a:t>
            </a:r>
          </a:p>
          <a:p>
            <a:r>
              <a:rPr lang="en-US" altLang="zh-CN" sz="1200" dirty="0"/>
              <a:t>           </a:t>
            </a:r>
            <a:r>
              <a:rPr lang="en-US" altLang="zh-CN" sz="1200" dirty="0" err="1"/>
              <a:t>w_data</a:t>
            </a:r>
            <a:r>
              <a:rPr lang="en-US" altLang="zh-CN" sz="1200" dirty="0"/>
              <a:t> = 0;</a:t>
            </a:r>
          </a:p>
          <a:p>
            <a:r>
              <a:rPr lang="en-US" altLang="zh-CN" sz="1200" dirty="0"/>
              <a:t>           </a:t>
            </a:r>
            <a:r>
              <a:rPr lang="en-US" altLang="zh-CN" sz="1200" dirty="0" err="1"/>
              <a:t>reg_addr</a:t>
            </a:r>
            <a:r>
              <a:rPr lang="en-US" altLang="zh-CN" sz="1200" dirty="0"/>
              <a:t> = 0;</a:t>
            </a:r>
          </a:p>
          <a:p>
            <a:r>
              <a:rPr lang="en-US" altLang="zh-CN" sz="1200" dirty="0"/>
              <a:t>       }</a:t>
            </a:r>
          </a:p>
          <a:p>
            <a:r>
              <a:rPr lang="en-US" altLang="zh-CN" sz="1200" dirty="0"/>
              <a:t>    }</a:t>
            </a:r>
          </a:p>
          <a:p>
            <a:r>
              <a:rPr lang="en-US" altLang="zh-CN" sz="1200" dirty="0"/>
              <a:t>		</a:t>
            </a:r>
          </a:p>
          <a:p>
            <a:r>
              <a:rPr lang="en-US" altLang="zh-CN" sz="1200" dirty="0"/>
              <a:t>    </a:t>
            </a:r>
            <a:r>
              <a:rPr lang="en-US" altLang="zh-CN" sz="1200" dirty="0" err="1"/>
              <a:t>HAL_Delay</a:t>
            </a:r>
            <a:r>
              <a:rPr lang="en-US" altLang="zh-CN" sz="1200" dirty="0"/>
              <a:t>(10);</a:t>
            </a:r>
          </a:p>
          <a:p>
            <a:r>
              <a:rPr lang="en-US" altLang="zh-CN" sz="1200" dirty="0"/>
              <a:t>}</a:t>
            </a:r>
            <a:endParaRPr lang="zh-CN" altLang="en-US" sz="12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8789D10-95E4-484D-8AB2-CD9A8C1F7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575" y="3239228"/>
            <a:ext cx="4795585" cy="82985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8387CA2-AF03-4FBE-953A-56288308D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575" y="4546819"/>
            <a:ext cx="3724777" cy="142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240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A9B3DD-52C7-4558-9846-174D5EADF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注意事项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72B55C-EAE0-4E7D-BC72-4117C02B83BA}"/>
              </a:ext>
            </a:extLst>
          </p:cNvPr>
          <p:cNvSpPr txBox="1"/>
          <p:nvPr/>
        </p:nvSpPr>
        <p:spPr>
          <a:xfrm>
            <a:off x="486918" y="929882"/>
            <a:ext cx="11125962" cy="25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焊接时注意晶振方向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使用时电源限流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使用</a:t>
            </a:r>
            <a:r>
              <a:rPr lang="en-US" altLang="zh-CN" dirty="0"/>
              <a:t>STM32</a:t>
            </a:r>
            <a:r>
              <a:rPr lang="zh-CN" altLang="en-US" dirty="0"/>
              <a:t>片内</a:t>
            </a:r>
            <a:r>
              <a:rPr lang="en-US" altLang="zh-CN" dirty="0"/>
              <a:t>ADC</a:t>
            </a:r>
            <a:r>
              <a:rPr lang="zh-CN" altLang="en-US" dirty="0"/>
              <a:t>时要考虑邻线串扰，模拟口远离数字口（邻线无连接时可设置为输出低电平）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不要带电插拔</a:t>
            </a:r>
            <a:r>
              <a:rPr lang="en-US" altLang="zh-CN" dirty="0"/>
              <a:t>IO</a:t>
            </a:r>
            <a:r>
              <a:rPr lang="zh-CN" altLang="en-US" dirty="0"/>
              <a:t>口以免浪涌电压损坏</a:t>
            </a:r>
            <a:r>
              <a:rPr lang="en-US" altLang="zh-CN" dirty="0"/>
              <a:t>IO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数字线路最好串接</a:t>
            </a:r>
            <a:r>
              <a:rPr lang="en-US" altLang="zh-CN" dirty="0"/>
              <a:t>33</a:t>
            </a:r>
            <a:r>
              <a:rPr lang="zh-CN" altLang="en-US" dirty="0"/>
              <a:t>欧电阻限流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FPGA</a:t>
            </a:r>
            <a:r>
              <a:rPr lang="zh-CN" altLang="en-US" dirty="0"/>
              <a:t>未使用管脚设置为带弱上拉或总线保持的输入三态模式（邻线无连接时可设置为输出低电平）</a:t>
            </a:r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360BF9C-1FBC-4808-AA1E-53777B480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726" y="3881096"/>
            <a:ext cx="6401355" cy="211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6106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E64053-B44B-4C92-97D4-F00E7732F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框图文字显示不全的问题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84FE5FF-D041-4B43-87E2-8689C8A00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9053" y="917217"/>
            <a:ext cx="5243014" cy="533446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9F2EF3E-8504-4AE0-B214-A2C50E607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680" y="1569520"/>
            <a:ext cx="3503096" cy="140289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274F57B-3712-4D7E-B1F4-357E69EEE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7407" y="4046312"/>
            <a:ext cx="3703641" cy="1242168"/>
          </a:xfrm>
          <a:prstGeom prst="rect">
            <a:avLst/>
          </a:prstGeom>
        </p:spPr>
      </p:pic>
      <p:sp>
        <p:nvSpPr>
          <p:cNvPr id="9" name="箭头: 下 8">
            <a:extLst>
              <a:ext uri="{FF2B5EF4-FFF2-40B4-BE49-F238E27FC236}">
                <a16:creationId xmlns:a16="http://schemas.microsoft.com/office/drawing/2014/main" id="{BF6FAED6-6B90-49F0-8E9B-D51C1A89DD8D}"/>
              </a:ext>
            </a:extLst>
          </p:cNvPr>
          <p:cNvSpPr/>
          <p:nvPr/>
        </p:nvSpPr>
        <p:spPr>
          <a:xfrm>
            <a:off x="3209544" y="3172968"/>
            <a:ext cx="310896" cy="71261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27C6F-52E7-4958-8397-74D19F77E417}"/>
              </a:ext>
            </a:extLst>
          </p:cNvPr>
          <p:cNvSpPr/>
          <p:nvPr/>
        </p:nvSpPr>
        <p:spPr>
          <a:xfrm>
            <a:off x="8037576" y="5057291"/>
            <a:ext cx="2249424" cy="71257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06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69D72D-DE55-462B-95E7-98EF8C707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.</a:t>
            </a:r>
            <a:r>
              <a:rPr lang="en-US" altLang="zh-CN" dirty="0" err="1"/>
              <a:t>pof</a:t>
            </a:r>
            <a:r>
              <a:rPr lang="zh-CN" altLang="en-US" dirty="0"/>
              <a:t>文件的生成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EF4A50B-0265-42B3-8491-2EF50555D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824" y="1747076"/>
            <a:ext cx="5468112" cy="451936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942DD88-9E44-491B-8FDB-47D8897687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41" y="886474"/>
            <a:ext cx="3764606" cy="60965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1D07B9F-BA3A-4B29-A4B1-312D1FABA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3" y="1747075"/>
            <a:ext cx="5633823" cy="451936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74621B8-B514-4C54-8453-B78B400011A2}"/>
              </a:ext>
            </a:extLst>
          </p:cNvPr>
          <p:cNvSpPr/>
          <p:nvPr/>
        </p:nvSpPr>
        <p:spPr>
          <a:xfrm>
            <a:off x="3328974" y="3914291"/>
            <a:ext cx="1078434" cy="3010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382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6B2FE7-A32D-405D-927B-65B4974F7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调试与烧录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3B556EA-8DDB-4C38-B3AD-EB48C5A16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57" y="919678"/>
            <a:ext cx="4600714" cy="186009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FC8AA2E-A5C5-4EA7-966F-5C7D5F67FE85}"/>
              </a:ext>
            </a:extLst>
          </p:cNvPr>
          <p:cNvSpPr txBox="1"/>
          <p:nvPr/>
        </p:nvSpPr>
        <p:spPr>
          <a:xfrm>
            <a:off x="797814" y="3244334"/>
            <a:ext cx="1021156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调试：</a:t>
            </a:r>
            <a:r>
              <a:rPr lang="en-US" altLang="zh-CN" dirty="0"/>
              <a:t>JTAG</a:t>
            </a:r>
            <a:r>
              <a:rPr lang="zh-CN" altLang="en-US" dirty="0"/>
              <a:t>，下载</a:t>
            </a:r>
            <a:r>
              <a:rPr lang="en-US" altLang="zh-CN" dirty="0"/>
              <a:t>.</a:t>
            </a:r>
            <a:r>
              <a:rPr lang="en-US" altLang="zh-CN" dirty="0" err="1"/>
              <a:t>sof</a:t>
            </a:r>
            <a:r>
              <a:rPr lang="zh-CN" altLang="en-US" dirty="0"/>
              <a:t>文件，掉电即丢失配置（也可以转</a:t>
            </a:r>
            <a:r>
              <a:rPr lang="en-US" altLang="zh-CN" dirty="0"/>
              <a:t>.</a:t>
            </a:r>
            <a:r>
              <a:rPr lang="en-US" altLang="zh-CN" dirty="0" err="1"/>
              <a:t>jic</a:t>
            </a:r>
            <a:r>
              <a:rPr lang="zh-CN" altLang="en-US" dirty="0"/>
              <a:t>文件烧录，但消耗额外逻辑）</a:t>
            </a:r>
            <a:endParaRPr lang="en-US" altLang="zh-CN" dirty="0"/>
          </a:p>
          <a:p>
            <a:r>
              <a:rPr lang="zh-CN" altLang="en-US" dirty="0"/>
              <a:t>烧录：</a:t>
            </a:r>
            <a:r>
              <a:rPr lang="en-US" altLang="zh-CN" dirty="0"/>
              <a:t>AS</a:t>
            </a:r>
            <a:r>
              <a:rPr lang="zh-CN" altLang="en-US" dirty="0"/>
              <a:t>（</a:t>
            </a:r>
            <a:r>
              <a:rPr lang="en-US" altLang="zh-CN" dirty="0"/>
              <a:t>Active Serial</a:t>
            </a:r>
            <a:r>
              <a:rPr lang="zh-CN" altLang="en-US" dirty="0"/>
              <a:t>），烧录</a:t>
            </a:r>
            <a:r>
              <a:rPr lang="en-US" altLang="zh-CN" dirty="0"/>
              <a:t>.</a:t>
            </a:r>
            <a:r>
              <a:rPr lang="en-US" altLang="zh-CN" dirty="0" err="1"/>
              <a:t>pof</a:t>
            </a:r>
            <a:r>
              <a:rPr lang="zh-CN" altLang="en-US" dirty="0"/>
              <a:t>文件，可固化配置，上电时加载</a:t>
            </a:r>
          </a:p>
        </p:txBody>
      </p:sp>
    </p:spTree>
    <p:extLst>
      <p:ext uri="{BB962C8B-B14F-4D97-AF65-F5344CB8AC3E}">
        <p14:creationId xmlns:p14="http://schemas.microsoft.com/office/powerpoint/2010/main" val="2167149452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模板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运放基本电路的设计与仿真.pptx" id="{28DD2369-328A-4D5D-B44E-179BE50FE74B}" vid="{61E4A9D7-6E69-4C87-97CD-5ADE2EEB10E5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自定义模板1</Template>
  <TotalTime>16618</TotalTime>
  <Words>1470</Words>
  <Application>Microsoft Office PowerPoint</Application>
  <PresentationFormat>宽屏</PresentationFormat>
  <Paragraphs>124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微软雅黑</vt:lpstr>
      <vt:lpstr>Arial</vt:lpstr>
      <vt:lpstr>Calibri</vt:lpstr>
      <vt:lpstr>Calibri Light</vt:lpstr>
      <vt:lpstr>自定义模板1</vt:lpstr>
      <vt:lpstr>PowerPoint 演示文稿</vt:lpstr>
      <vt:lpstr>背景</vt:lpstr>
      <vt:lpstr>Intel FPGA+STM32开发板简介</vt:lpstr>
      <vt:lpstr>FPGA与CPLD的区别</vt:lpstr>
      <vt:lpstr>什么时候上FPGA</vt:lpstr>
      <vt:lpstr>STM32 + FPGA 到底能干嘛</vt:lpstr>
      <vt:lpstr>FMC总线简介</vt:lpstr>
      <vt:lpstr>开发板布局</vt:lpstr>
      <vt:lpstr>例程简介——STM32时钟树</vt:lpstr>
      <vt:lpstr>STM32 FMC的配置</vt:lpstr>
      <vt:lpstr>STM32 MPU的配置</vt:lpstr>
      <vt:lpstr>AI辅助FPGA编码</vt:lpstr>
      <vt:lpstr>FPGA锁相环配置</vt:lpstr>
      <vt:lpstr>FPGA锁相环配置</vt:lpstr>
      <vt:lpstr>FPGA锁相环配置</vt:lpstr>
      <vt:lpstr>FPGA锁相环配置</vt:lpstr>
      <vt:lpstr>放置锁相环</vt:lpstr>
      <vt:lpstr>放置、连接FMC模块</vt:lpstr>
      <vt:lpstr>STM32测试例程</vt:lpstr>
      <vt:lpstr>注意事项</vt:lpstr>
      <vt:lpstr>框图文字显示不全的问题</vt:lpstr>
      <vt:lpstr>.pof文件的生成</vt:lpstr>
      <vt:lpstr>调试与烧录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User</dc:creator>
  <cp:lastModifiedBy>Tesla</cp:lastModifiedBy>
  <cp:revision>556</cp:revision>
  <dcterms:created xsi:type="dcterms:W3CDTF">2019-04-22T14:51:55Z</dcterms:created>
  <dcterms:modified xsi:type="dcterms:W3CDTF">2026-06-27T14:39:13Z</dcterms:modified>
</cp:coreProperties>
</file>